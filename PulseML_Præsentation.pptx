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0" d="100"/>
          <a:sy n="210" d="100"/>
        </p:scale>
        <p:origin x="292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65862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Introduktion til PulseML — præsenter dig selv og projektets formål kort.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Gennemgå tech-stakken. Fremhæv at ONNX Runtime muliggør client-side inference i JavaScript.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Forklar pipeline: download → landmark-ekstraktion → feature-beregning → auto-labeling → vinduer → augmentering → split.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Forklar LSTM-valget: sekventielle data kræver hukommelse over tid. Dropout og early stopping forhindrer overfitting.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Beskriv evalueringen. Fremhæv at ONNX-deploy er den stærkeste tekniske del af projektet.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Vær ærlig og reflekteret. Vis at du forstår begrænsningerne — det er en styrke, ikke en svaghed.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F9B8E"/>
                </a:solidFill>
              </a:rPr>
              <a:t>Gustav Torup Jacobsen  ·  Machine Learning Eksamensprojekt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400" b="1" kern="0" spc="400" dirty="0">
                <a:solidFill>
                  <a:srgbClr val="FFFFFF"/>
                </a:solidFill>
              </a:rPr>
              <a:t>PulseML.js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F9B8E"/>
                </a:solidFill>
              </a:rPr>
              <a:t>ML-powered fitness games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0" y="2788920"/>
            <a:ext cx="2743200" cy="36576"/>
          </a:xfrm>
          <a:prstGeom prst="rect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6" name="Shape 4"/>
          <p:cNvSpPr/>
          <p:nvPr/>
        </p:nvSpPr>
        <p:spPr>
          <a:xfrm>
            <a:off x="457200" y="297180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162535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 dirty="0"/>
          </a:p>
        </p:txBody>
      </p:sp>
      <p:sp>
        <p:nvSpPr>
          <p:cNvPr id="7" name="Text 5"/>
          <p:cNvSpPr/>
          <p:nvPr/>
        </p:nvSpPr>
        <p:spPr>
          <a:xfrm>
            <a:off x="45720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📷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4930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9B8E"/>
                </a:solidFill>
              </a:rPr>
              <a:t>Pose-detection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81304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8C2CC"/>
                </a:solidFill>
              </a:rPr>
              <a:t>MediaPipe registrerer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A8C2CC"/>
                </a:solidFill>
              </a:rPr>
              <a:t>33 krops-nøglepunkter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91840" y="297180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162535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329184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🧠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291840" y="34930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9B8E"/>
                </a:solidFill>
              </a:rPr>
              <a:t>LSTM-model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91840" y="381304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8C2CC"/>
                </a:solidFill>
              </a:rPr>
              <a:t>Neuronalt netværk tæller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A8C2CC"/>
                </a:solidFill>
              </a:rPr>
              <a:t>reps i realtid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2971800"/>
            <a:ext cx="2651760" cy="1691640"/>
          </a:xfrm>
          <a:prstGeom prst="roundRect">
            <a:avLst>
              <a:gd name="adj" fmla="val 5405"/>
            </a:avLst>
          </a:prstGeom>
          <a:solidFill>
            <a:srgbClr val="162535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5" name="Text 13"/>
          <p:cNvSpPr/>
          <p:nvPr/>
        </p:nvSpPr>
        <p:spPr>
          <a:xfrm>
            <a:off x="6126480" y="30632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126480" y="349300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9B8E"/>
                </a:solidFill>
              </a:rPr>
              <a:t>Leaderboard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26480" y="381304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8C2CC"/>
                </a:solidFill>
              </a:rPr>
              <a:t>Brugerkonti &amp;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A8C2CC"/>
                </a:solidFill>
              </a:rPr>
              <a:t>rangliste med SQLite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D1B2A"/>
                </a:solidFill>
              </a:rPr>
              <a:t>Anvendte Teknologier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457200" y="1060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🦾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24128" y="1060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MediaPipe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24128" y="133502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Extracter 33 krops-nøglepunkter pr. frame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975104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 dirty="0"/>
          </a:p>
        </p:txBody>
      </p:sp>
      <p:sp>
        <p:nvSpPr>
          <p:cNvPr id="8" name="Text 6"/>
          <p:cNvSpPr/>
          <p:nvPr/>
        </p:nvSpPr>
        <p:spPr>
          <a:xfrm>
            <a:off x="457200" y="2029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24128" y="2029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Keras / TensorFlow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24128" y="2304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LSTM neuronalt netværk til træning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944368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457200" y="2999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📐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scikit-learn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24128" y="32735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StandardScaler + train/val/test split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760" y="3913632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/>
          <p:nvPr/>
        </p:nvSpPr>
        <p:spPr>
          <a:xfrm>
            <a:off x="457200" y="39684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🔁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24128" y="39684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tf2onnx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24128" y="424281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Eksporterer Keras-model til ONNX-format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1005840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20" name="Text 18"/>
          <p:cNvSpPr/>
          <p:nvPr/>
        </p:nvSpPr>
        <p:spPr>
          <a:xfrm>
            <a:off x="4846320" y="1060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⚡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13248" y="10607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ONNX Runtime (JS)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13248" y="1335024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Kører modellen client-side i browseren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1975104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24" name="Text 22"/>
          <p:cNvSpPr/>
          <p:nvPr/>
        </p:nvSpPr>
        <p:spPr>
          <a:xfrm>
            <a:off x="4846320" y="2029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🖼️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413248" y="20299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Svelte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13248" y="2304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Frontend framework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944368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28" name="Text 26"/>
          <p:cNvSpPr/>
          <p:nvPr/>
        </p:nvSpPr>
        <p:spPr>
          <a:xfrm>
            <a:off x="4846320" y="29992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413248" y="29992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Node.js + Express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13248" y="327355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Backend REST API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3913632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32" name="Text 30"/>
          <p:cNvSpPr/>
          <p:nvPr/>
        </p:nvSpPr>
        <p:spPr>
          <a:xfrm>
            <a:off x="4846320" y="39684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413248" y="39684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B2A"/>
                </a:solidFill>
              </a:rPr>
              <a:t>SQLite (better-sqlite3)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13248" y="4242816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</a:rPr>
              <a:t>Database: brugere, scores, leaderboard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65760" y="4572000"/>
            <a:ext cx="8412480" cy="347472"/>
          </a:xfrm>
          <a:prstGeom prst="roundRect">
            <a:avLst>
              <a:gd name="adj" fmla="val 15789"/>
            </a:avLst>
          </a:prstGeom>
          <a:solidFill>
            <a:srgbClr val="E0F2F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6" name="Text 34"/>
          <p:cNvSpPr/>
          <p:nvPr/>
        </p:nvSpPr>
        <p:spPr>
          <a:xfrm>
            <a:off x="457200" y="45994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B7A70"/>
                </a:solidFill>
              </a:rPr>
              <a:t>📊  Træningsdata: Kaggle-datasæt — 56 pushup-videoer + 23 squat-videoer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</a:rPr>
              <a:t>Dataforberedelse &amp; Labelling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4" name="Shape 2"/>
          <p:cNvSpPr/>
          <p:nvPr/>
        </p:nvSpPr>
        <p:spPr>
          <a:xfrm>
            <a:off x="987552" y="804672"/>
            <a:ext cx="512064" cy="512064"/>
          </a:xfrm>
          <a:prstGeom prst="ellipse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5" name="Text 3"/>
          <p:cNvSpPr/>
          <p:nvPr/>
        </p:nvSpPr>
        <p:spPr>
          <a:xfrm>
            <a:off x="987552" y="8046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332545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Download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1353312"/>
            <a:ext cx="1389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Kaggle-videoer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hasyimabdillah/workoutfitness-video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020824" y="150876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B8E"/>
                </a:solidFill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157984" y="96012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0" name="Shape 8"/>
          <p:cNvSpPr/>
          <p:nvPr/>
        </p:nvSpPr>
        <p:spPr>
          <a:xfrm>
            <a:off x="2688336" y="804672"/>
            <a:ext cx="512064" cy="512064"/>
          </a:xfrm>
          <a:prstGeom prst="ellipse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1" name="Text 9"/>
          <p:cNvSpPr/>
          <p:nvPr/>
        </p:nvSpPr>
        <p:spPr>
          <a:xfrm>
            <a:off x="2688336" y="8046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2189374" y="135545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Keypoints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49424" y="1353312"/>
            <a:ext cx="1389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MediaPipe: 6 landmarks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(skuldre, albuer, håndled)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721608" y="150876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B8E"/>
                </a:solidFill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58768" y="96012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6" name="Shape 14"/>
          <p:cNvSpPr/>
          <p:nvPr/>
        </p:nvSpPr>
        <p:spPr>
          <a:xfrm>
            <a:off x="4389120" y="804672"/>
            <a:ext cx="512064" cy="512064"/>
          </a:xfrm>
          <a:prstGeom prst="ellipse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7" name="Text 15"/>
          <p:cNvSpPr/>
          <p:nvPr/>
        </p:nvSpPr>
        <p:spPr>
          <a:xfrm>
            <a:off x="4389120" y="8046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941064" y="1332545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Features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50208" y="1353312"/>
            <a:ext cx="1389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21 features pr. frame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(x, y, visibility + albuevinkler)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422392" y="150876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B8E"/>
                </a:solidFill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559552" y="96012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22" name="Shape 20"/>
          <p:cNvSpPr/>
          <p:nvPr/>
        </p:nvSpPr>
        <p:spPr>
          <a:xfrm>
            <a:off x="6089904" y="804672"/>
            <a:ext cx="512064" cy="512064"/>
          </a:xfrm>
          <a:prstGeom prst="ellipse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3" name="Text 21"/>
          <p:cNvSpPr/>
          <p:nvPr/>
        </p:nvSpPr>
        <p:spPr>
          <a:xfrm>
            <a:off x="6089904" y="8046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650992" y="1339210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Auto-label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50992" y="1353312"/>
            <a:ext cx="1389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Albue &lt;90°→ned  &gt;160°→op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imellem → kasseres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123176" y="150876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F9B8E"/>
                </a:solidFill>
              </a:rPr>
              <a:t>→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251192" y="960120"/>
            <a:ext cx="1572768" cy="1600200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28" name="Shape 26"/>
          <p:cNvSpPr/>
          <p:nvPr/>
        </p:nvSpPr>
        <p:spPr>
          <a:xfrm>
            <a:off x="7790688" y="804672"/>
            <a:ext cx="512064" cy="512064"/>
          </a:xfrm>
          <a:prstGeom prst="ellipse">
            <a:avLst/>
          </a:prstGeom>
          <a:solidFill>
            <a:srgbClr val="0F9B8E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9" name="Text 27"/>
          <p:cNvSpPr/>
          <p:nvPr/>
        </p:nvSpPr>
        <p:spPr>
          <a:xfrm>
            <a:off x="7790688" y="80467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351776" y="1396484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B2A"/>
                </a:solidFill>
              </a:rPr>
              <a:t>Buffer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51776" y="1353312"/>
            <a:ext cx="1389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Buffer window: 20 frames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6B7280"/>
                </a:solidFill>
              </a:rPr>
              <a:t>Kun </a:t>
            </a:r>
            <a:r>
              <a:rPr lang="en-US" sz="950" dirty="0" err="1">
                <a:solidFill>
                  <a:srgbClr val="6B7280"/>
                </a:solidFill>
              </a:rPr>
              <a:t>rene</a:t>
            </a:r>
            <a:r>
              <a:rPr lang="en-US" sz="950" dirty="0">
                <a:solidFill>
                  <a:srgbClr val="6B7280"/>
                </a:solidFill>
              </a:rPr>
              <a:t> buffers beholdes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7200" y="278892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0D1B2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3" name="Text 31"/>
          <p:cNvSpPr/>
          <p:nvPr/>
        </p:nvSpPr>
        <p:spPr>
          <a:xfrm>
            <a:off x="457200" y="2834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9B8E"/>
                </a:solidFill>
              </a:rPr>
              <a:t>475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457200" y="3383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2CC"/>
                </a:solidFill>
              </a:rPr>
              <a:t>Rå sekvenser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606040" y="278892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0D1B2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6" name="Text 34"/>
          <p:cNvSpPr/>
          <p:nvPr/>
        </p:nvSpPr>
        <p:spPr>
          <a:xfrm>
            <a:off x="2606040" y="2834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9B8E"/>
                </a:solidFill>
              </a:rPr>
              <a:t>1.900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2606040" y="3383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2CC"/>
                </a:solidFill>
              </a:rPr>
              <a:t>Efter augmentering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754880" y="278892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0D1B2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9" name="Text 37"/>
          <p:cNvSpPr/>
          <p:nvPr/>
        </p:nvSpPr>
        <p:spPr>
          <a:xfrm>
            <a:off x="4754880" y="2834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9B8E"/>
                </a:solidFill>
              </a:rPr>
              <a:t>21</a:t>
            </a:r>
            <a:endParaRPr lang="en-US" sz="2600" dirty="0"/>
          </a:p>
        </p:txBody>
      </p:sp>
      <p:sp>
        <p:nvSpPr>
          <p:cNvPr id="40" name="Text 38"/>
          <p:cNvSpPr/>
          <p:nvPr/>
        </p:nvSpPr>
        <p:spPr>
          <a:xfrm>
            <a:off x="4754880" y="3383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2CC"/>
                </a:solidFill>
              </a:rPr>
              <a:t>Features pr. frame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903720" y="2788920"/>
            <a:ext cx="1965960" cy="1005840"/>
          </a:xfrm>
          <a:prstGeom prst="roundRect">
            <a:avLst>
              <a:gd name="adj" fmla="val 9091"/>
            </a:avLst>
          </a:prstGeom>
          <a:solidFill>
            <a:srgbClr val="0D1B2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2" name="Text 40"/>
          <p:cNvSpPr/>
          <p:nvPr/>
        </p:nvSpPr>
        <p:spPr>
          <a:xfrm>
            <a:off x="6903720" y="2834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F9B8E"/>
                </a:solidFill>
              </a:rPr>
              <a:t>60/20/20</a:t>
            </a:r>
            <a:endParaRPr lang="en-US" sz="2600" dirty="0"/>
          </a:p>
        </p:txBody>
      </p:sp>
      <p:sp>
        <p:nvSpPr>
          <p:cNvPr id="43" name="Text 41"/>
          <p:cNvSpPr/>
          <p:nvPr/>
        </p:nvSpPr>
        <p:spPr>
          <a:xfrm>
            <a:off x="6903720" y="33832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C2CC"/>
                </a:solidFill>
              </a:rPr>
              <a:t>Train/Val/Test split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57200" y="3950208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0F2F1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5" name="Text 43"/>
          <p:cNvSpPr/>
          <p:nvPr/>
        </p:nvSpPr>
        <p:spPr>
          <a:xfrm>
            <a:off x="594360" y="4014216"/>
            <a:ext cx="7955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B7A70"/>
                </a:solidFill>
              </a:rPr>
              <a:t>StandardScaler</a:t>
            </a:r>
            <a:r>
              <a:rPr lang="en-US" sz="1100" dirty="0">
                <a:solidFill>
                  <a:srgbClr val="1F2937"/>
                </a:solidFill>
              </a:rPr>
              <a:t> normaliserer alle 21 features til mean=0, std=1. Fittet kun </a:t>
            </a:r>
            <a:r>
              <a:rPr lang="en-US" sz="1100" dirty="0" err="1">
                <a:solidFill>
                  <a:srgbClr val="1F2937"/>
                </a:solidFill>
              </a:rPr>
              <a:t>på</a:t>
            </a:r>
            <a:r>
              <a:rPr lang="en-US" sz="1100" dirty="0">
                <a:solidFill>
                  <a:srgbClr val="1F2937"/>
                </a:solidFill>
              </a:rPr>
              <a:t> </a:t>
            </a:r>
            <a:r>
              <a:rPr lang="en-US" sz="1100" dirty="0" err="1">
                <a:solidFill>
                  <a:srgbClr val="1F2937"/>
                </a:solidFill>
              </a:rPr>
              <a:t>træningsdata</a:t>
            </a:r>
            <a:r>
              <a:rPr lang="en-US" sz="1100" b="1" dirty="0">
                <a:solidFill>
                  <a:srgbClr val="0B7A70"/>
                </a:solidFill>
              </a:rPr>
              <a:t>.</a:t>
            </a:r>
            <a:r>
              <a:rPr lang="en-US" sz="1100" dirty="0">
                <a:solidFill>
                  <a:srgbClr val="1F2937"/>
                </a:solidFill>
              </a:rPr>
              <a:t> Augmentering: spejling venstre/højre + støj × 2 = 1.900 sekvenser.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LSTM Model-Træning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1A3A4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457200" y="104241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Input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26187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ECFCA"/>
                </a:solidFill>
              </a:rPr>
              <a:t>(20 frames × 21 features)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2103120" y="1456853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9B8E"/>
                </a:solidFill>
              </a:rPr>
              <a:t>↓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1627632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0B7A70"/>
          </a:solidFill>
          <a:ln/>
        </p:spPr>
        <p:txBody>
          <a:bodyPr/>
          <a:lstStyle/>
          <a:p>
            <a:endParaRPr lang="en-DK" dirty="0"/>
          </a:p>
        </p:txBody>
      </p:sp>
      <p:sp>
        <p:nvSpPr>
          <p:cNvPr id="8" name="Text 6"/>
          <p:cNvSpPr/>
          <p:nvPr/>
        </p:nvSpPr>
        <p:spPr>
          <a:xfrm>
            <a:off x="457200" y="1664208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LSTM(64)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883664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ECFCA"/>
                </a:solidFill>
              </a:rPr>
              <a:t>Sekvens-læring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103120" y="207714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9B8E"/>
                </a:solidFill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249424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16304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457200" y="228600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Dropout(0.3)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2505456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ECFCA"/>
                </a:solidFill>
              </a:rPr>
              <a:t>Regularisering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103120" y="26791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9B8E"/>
                </a:solidFill>
              </a:rPr>
              <a:t>↓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871216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0B7A7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/>
          <p:nvPr/>
        </p:nvSpPr>
        <p:spPr>
          <a:xfrm>
            <a:off x="457200" y="290779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Dense(32, ReLU)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1272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ECFCA"/>
                </a:solidFill>
              </a:rPr>
              <a:t>Ikke-lineær aktivering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103120" y="331317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9B8E"/>
                </a:solidFill>
              </a:rPr>
              <a:t>↓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493008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16304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0" name="Text 18"/>
          <p:cNvSpPr/>
          <p:nvPr/>
        </p:nvSpPr>
        <p:spPr>
          <a:xfrm>
            <a:off x="457200" y="352958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Dropout(0.3)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374904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ECFCA"/>
                </a:solidFill>
              </a:rPr>
              <a:t>Regularisering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103120" y="393192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F9B8E"/>
                </a:solidFill>
              </a:rPr>
              <a:t>↓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4114800"/>
            <a:ext cx="4114800" cy="512064"/>
          </a:xfrm>
          <a:prstGeom prst="roundRect">
            <a:avLst>
              <a:gd name="adj" fmla="val 14286"/>
            </a:avLst>
          </a:prstGeom>
          <a:solidFill>
            <a:srgbClr val="1B5E4F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4" name="Text 22"/>
          <p:cNvSpPr/>
          <p:nvPr/>
        </p:nvSpPr>
        <p:spPr>
          <a:xfrm>
            <a:off x="457200" y="415137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Dense(1, Sigmoid)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4370832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ECFCA"/>
                </a:solidFill>
              </a:rPr>
              <a:t>Output: op / ned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54880" y="1005840"/>
            <a:ext cx="4023360" cy="548640"/>
          </a:xfrm>
          <a:prstGeom prst="roundRect">
            <a:avLst>
              <a:gd name="adj" fmla="val 11667"/>
            </a:avLst>
          </a:prstGeom>
          <a:solidFill>
            <a:srgbClr val="0F2535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9B8E"/>
                </a:solidFill>
              </a:rPr>
              <a:t>Optimizer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1261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Adam  lr=0.001  momentum=0.9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1664208"/>
            <a:ext cx="4023360" cy="548640"/>
          </a:xfrm>
          <a:prstGeom prst="roundRect">
            <a:avLst>
              <a:gd name="adj" fmla="val 11667"/>
            </a:avLst>
          </a:prstGeom>
          <a:solidFill>
            <a:srgbClr val="0F2535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0" name="Text 28"/>
          <p:cNvSpPr/>
          <p:nvPr/>
        </p:nvSpPr>
        <p:spPr>
          <a:xfrm>
            <a:off x="4892040" y="170992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9B8E"/>
                </a:solidFill>
              </a:rPr>
              <a:t>Loss - function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92040" y="192024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Binary crossentropy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54880" y="2298328"/>
            <a:ext cx="4023360" cy="548640"/>
          </a:xfrm>
          <a:prstGeom prst="roundRect">
            <a:avLst>
              <a:gd name="adj" fmla="val 11667"/>
            </a:avLst>
          </a:prstGeom>
          <a:solidFill>
            <a:srgbClr val="0F2535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6" name="Text 34"/>
          <p:cNvSpPr/>
          <p:nvPr/>
        </p:nvSpPr>
        <p:spPr>
          <a:xfrm>
            <a:off x="4892040" y="236195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9B8E"/>
                </a:solidFill>
              </a:rPr>
              <a:t>Early stopping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92040" y="2570579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patience=5, gendanner bedste vægte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754880" y="2943094"/>
            <a:ext cx="4023360" cy="548640"/>
          </a:xfrm>
          <a:prstGeom prst="roundRect">
            <a:avLst>
              <a:gd name="adj" fmla="val 11667"/>
            </a:avLst>
          </a:prstGeom>
          <a:solidFill>
            <a:srgbClr val="0F2535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39" name="Text 37"/>
          <p:cNvSpPr/>
          <p:nvPr/>
        </p:nvSpPr>
        <p:spPr>
          <a:xfrm>
            <a:off x="4892040" y="298881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9B8E"/>
                </a:solidFill>
              </a:rPr>
              <a:t>Max epoker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92040" y="319912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50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754880" y="3601462"/>
            <a:ext cx="4023360" cy="548640"/>
          </a:xfrm>
          <a:prstGeom prst="roundRect">
            <a:avLst>
              <a:gd name="adj" fmla="val 11667"/>
            </a:avLst>
          </a:prstGeom>
          <a:solidFill>
            <a:srgbClr val="0F2535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2" name="Text 40"/>
          <p:cNvSpPr/>
          <p:nvPr/>
        </p:nvSpPr>
        <p:spPr>
          <a:xfrm>
            <a:off x="4892040" y="364718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9B8E"/>
                </a:solidFill>
              </a:rPr>
              <a:t>Eksport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4892040" y="385749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tf2onnx → ONNX + Scaler som JSON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B2A"/>
                </a:solidFill>
              </a:rPr>
              <a:t>Modelevaluering &amp; Resultater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00584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457200" y="10789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3000" y="1097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Testset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143000" y="142646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20% af data — aldrig set under træning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17720" y="100584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8" name="Text 6"/>
          <p:cNvSpPr/>
          <p:nvPr/>
        </p:nvSpPr>
        <p:spPr>
          <a:xfrm>
            <a:off x="4754880" y="10789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40680" y="10972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Metrikker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40680" y="142646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Klassifikationsrapport, forvirringsmatrix, tab/nøjagtighed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37744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2" name="Text 10"/>
          <p:cNvSpPr/>
          <p:nvPr/>
        </p:nvSpPr>
        <p:spPr>
          <a:xfrm>
            <a:off x="457200" y="2450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✅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143000" y="2468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Ingen overfitting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43000" y="279806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Dropout + early stopping virkede effektivt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17720" y="2377440"/>
            <a:ext cx="40233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DK"/>
          </a:p>
        </p:txBody>
      </p:sp>
      <p:sp>
        <p:nvSpPr>
          <p:cNvPr id="16" name="Text 14"/>
          <p:cNvSpPr/>
          <p:nvPr/>
        </p:nvSpPr>
        <p:spPr>
          <a:xfrm>
            <a:off x="4754880" y="245059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⚡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5440680" y="246888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B2A"/>
                </a:solidFill>
              </a:rPr>
              <a:t>ONNX Runtime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40680" y="2798064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</a:rPr>
              <a:t>Inferens sker client-side — ingen server kræves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" y="3931920"/>
            <a:ext cx="8503920" cy="960120"/>
          </a:xfrm>
          <a:prstGeom prst="roundRect">
            <a:avLst>
              <a:gd name="adj" fmla="val 9524"/>
            </a:avLst>
          </a:prstGeom>
          <a:solidFill>
            <a:srgbClr val="0D1B2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20" name="Text 18"/>
          <p:cNvSpPr/>
          <p:nvPr/>
        </p:nvSpPr>
        <p:spPr>
          <a:xfrm>
            <a:off x="457200" y="399592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F9B8E"/>
                </a:solidFill>
              </a:rPr>
              <a:t>Real-time rep-tælling</a:t>
            </a:r>
            <a:r>
              <a:rPr lang="en-US" sz="1150" dirty="0">
                <a:solidFill>
                  <a:srgbClr val="FFFFFF"/>
                </a:solidFill>
              </a:rPr>
              <a:t>  fungerer på live webcam-feed. Modellen kører i JavaScript via ONNX Runtime — ingen server-tur pr. frame. Scaler-parametre gemmes som JSON og anvendes identisk i browseren.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Kritik </a:t>
            </a:r>
            <a:r>
              <a:rPr lang="en-US" sz="3000" b="1" dirty="0" err="1">
                <a:solidFill>
                  <a:srgbClr val="FFFFFF"/>
                </a:solidFill>
              </a:rPr>
              <a:t>af</a:t>
            </a:r>
            <a:r>
              <a:rPr lang="en-US" sz="3000" b="1" dirty="0">
                <a:solidFill>
                  <a:srgbClr val="FFFFFF"/>
                </a:solidFill>
              </a:rPr>
              <a:t> Projekt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572768"/>
          </a:xfrm>
          <a:prstGeom prst="roundRect">
            <a:avLst>
              <a:gd name="adj" fmla="val 5814"/>
            </a:avLst>
          </a:prstGeom>
          <a:solidFill>
            <a:srgbClr val="2A181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4" name="Text 2"/>
          <p:cNvSpPr/>
          <p:nvPr/>
        </p:nvSpPr>
        <p:spPr>
          <a:xfrm>
            <a:off x="59436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9B8E"/>
                </a:solidFill>
              </a:rPr>
              <a:t>⚠️  Cirkulær labeling-logik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1426464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EE5"/>
                </a:solidFill>
              </a:rPr>
              <a:t>Labels genereret via albuevinkel-tærskler — den samme logik der kunne anvendes direkte. LSTM lærte at approksimere en regel der allerede eksisterede, og tilføjede kun glatning over 20 frames.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4023360" cy="1572768"/>
          </a:xfrm>
          <a:prstGeom prst="roundRect">
            <a:avLst>
              <a:gd name="adj" fmla="val 5814"/>
            </a:avLst>
          </a:prstGeom>
          <a:solidFill>
            <a:srgbClr val="1A1E2A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7" name="Text 5"/>
          <p:cNvSpPr/>
          <p:nvPr/>
        </p:nvSpPr>
        <p:spPr>
          <a:xfrm>
            <a:off x="48920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9B8E"/>
                </a:solidFill>
              </a:rPr>
              <a:t>📹  Begrænset generaliseringsevne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92040" y="1426464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EE5"/>
                </a:solidFill>
              </a:rPr>
              <a:t>Træningsdata fra Kaggle: kontrollerede videoer fra siden med god belysning. Modellen generaliserer muligvis dårligt ved andre kameravinkler, belysning eller kropsbygninger.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572768"/>
          </a:xfrm>
          <a:prstGeom prst="roundRect">
            <a:avLst>
              <a:gd name="adj" fmla="val 5814"/>
            </a:avLst>
          </a:prstGeom>
          <a:solidFill>
            <a:srgbClr val="2A181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9B8E"/>
                </a:solidFill>
              </a:rPr>
              <a:t>📉  Lille datasæt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3163824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EE5"/>
                </a:solidFill>
              </a:rPr>
              <a:t>Kun 475 rå sekvenser før augmentering. Syntetisk data er ikke erstatning for ægte variation.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4023360" cy="1572768"/>
          </a:xfrm>
          <a:prstGeom prst="roundRect">
            <a:avLst>
              <a:gd name="adj" fmla="val 5814"/>
            </a:avLst>
          </a:prstGeom>
          <a:solidFill>
            <a:srgbClr val="0F2B20"/>
          </a:solidFill>
          <a:ln/>
        </p:spPr>
        <p:txBody>
          <a:bodyPr/>
          <a:lstStyle/>
          <a:p>
            <a:endParaRPr lang="en-DK"/>
          </a:p>
        </p:txBody>
      </p:sp>
      <p:sp>
        <p:nvSpPr>
          <p:cNvPr id="13" name="Text 11"/>
          <p:cNvSpPr/>
          <p:nvPr/>
        </p:nvSpPr>
        <p:spPr>
          <a:xfrm>
            <a:off x="4892040" y="28346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9B8E"/>
                </a:solidFill>
              </a:rPr>
              <a:t>💡  Hvad burde have været gjort anderledes?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92040" y="3163824"/>
            <a:ext cx="3749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EE5"/>
                </a:solidFill>
              </a:rPr>
              <a:t>Manuelt mærkede data til formkvalitet (god vs. dårlig form) — noget en vinkelgrænse ikke kan detektere, og hvor et LSTM ville give reel merværdi.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4360" y="464515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609</Words>
  <Application>Microsoft Office PowerPoint</Application>
  <PresentationFormat>On-screen Show (16:9)</PresentationFormat>
  <Paragraphs>138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PulseML — AI-Powered Workout Tracker</dc:title>
  <dc:subject>PptxGenJS Presentation</dc:subject>
  <dc:creator>Gustav Torup Jacobsen</dc:creator>
  <cp:lastModifiedBy>Gustav Torup Jacobsen</cp:lastModifiedBy>
  <cp:revision>3</cp:revision>
  <dcterms:created xsi:type="dcterms:W3CDTF">2026-06-12T11:22:20Z</dcterms:created>
  <dcterms:modified xsi:type="dcterms:W3CDTF">2026-06-12T12:26:26Z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2026-06-12T11:49:11Z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9aafd452-b819-40a3-a400-f94ff33b0125</vt:lpwstr>
  </property>
  <property fmtid="{D5CDD505-2E9C-101B-9397-08002B2CF9AE}" pid="7" name="MSIP_Label_defa4170-0d19-0005-0004-bc88714345d2_ActionId">
    <vt:lpwstr>347bada5-d389-494f-90a9-2e6c01521670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