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66" r:id="rId5"/>
    <p:sldId id="267" r:id="rId6"/>
    <p:sldId id="261" r:id="rId7"/>
    <p:sldId id="268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120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5862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 til PulseML — præsenter dig selv og projektets formål kort.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37E2C-58DC-F78A-C611-0C95901E0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7EBD5-1D04-5D58-E38C-B78EB1D40A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91DA1B-39F2-C8B4-5CFC-3A63F77C5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 til PulseML — præsenter dig selv og projektets formål kort.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C0EE3-ABF7-60C8-8717-ECF01CFF68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417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Gennemgå tech-stakken. Fremhæv at ONNX Runtime muliggør client-side inference i JavaScript.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56676-FD64-8BF5-3A14-BFC6274C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490195-F7F9-C7F7-E8D8-3C05439F94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48217B-8C81-5B22-2843-4647A8B261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Introduktion til PulseML — præsenter dig selv og projektets formål kort.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38FBA-FB60-687E-72FB-27776E2057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94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Vær ærlig og reflekteret. Vis at du forstår begrænsningerne — det er en styrke, ikke en svaghed.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9B8E"/>
                </a:solidFill>
              </a:rPr>
              <a:t>Gustav Torup Jacobsen  ·  Machine Learning Eksamensprojekt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kern="0" spc="400" dirty="0">
                <a:solidFill>
                  <a:srgbClr val="FFFFFF"/>
                </a:solidFill>
              </a:rPr>
              <a:t>PulseML.js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9B8E"/>
                </a:solidFill>
              </a:rPr>
              <a:t>ML-powered fitness games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45720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6253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9B8E"/>
                </a:solidFill>
              </a:rPr>
              <a:t>Pose-detection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813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2CC"/>
                </a:solidFill>
              </a:rPr>
              <a:t>MediaPipe registrerer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2CC"/>
                </a:solidFill>
              </a:rPr>
              <a:t>33 krops-nøglepunkter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6253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329184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9B8E"/>
                </a:solidFill>
              </a:rPr>
              <a:t>LSTM-model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3813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2CC"/>
                </a:solidFill>
              </a:rPr>
              <a:t>Neuronalt netværk tæller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2CC"/>
                </a:solidFill>
              </a:rPr>
              <a:t>reps i realtid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29718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162535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612648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34930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9B8E"/>
                </a:solidFill>
              </a:rPr>
              <a:t>Leaderboard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26480" y="38130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8C2CC"/>
                </a:solidFill>
              </a:rPr>
              <a:t>Brugerkonti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A8C2CC"/>
                </a:solidFill>
              </a:rPr>
              <a:t>rangliste med SQLite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62517-AF24-5E17-B349-2DF10D3B3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A7E07245-6EAC-48D9-8668-C97389E1B1E7}"/>
              </a:ext>
            </a:extLst>
          </p:cNvPr>
          <p:cNvSpPr/>
          <p:nvPr/>
        </p:nvSpPr>
        <p:spPr>
          <a:xfrm>
            <a:off x="0" y="1221105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400" dirty="0"/>
              <a:t>PulseML.js – live Demo</a:t>
            </a:r>
            <a:endParaRPr lang="en-US" sz="5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3C2A776-7DEF-8445-36E3-CCAF56834073}"/>
              </a:ext>
            </a:extLst>
          </p:cNvPr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F9B8E"/>
                </a:solidFill>
              </a:rPr>
              <a:t>ML-powered fitness games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71E643B-8040-ED03-C23A-E7C214669C74}"/>
              </a:ext>
            </a:extLst>
          </p:cNvPr>
          <p:cNvSpPr/>
          <p:nvPr/>
        </p:nvSpPr>
        <p:spPr>
          <a:xfrm>
            <a:off x="3200400" y="2788920"/>
            <a:ext cx="2743200" cy="36576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14705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 err="1"/>
              <a:t>Hvordan</a:t>
            </a:r>
            <a:r>
              <a:rPr lang="en-US" sz="3200" dirty="0"/>
              <a:t>?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45720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24128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MediaPipe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4128" y="13350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Extracter 33 krops-nøglepunkter pr. frame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 dirty="0"/>
          </a:p>
        </p:txBody>
      </p:sp>
      <p:sp>
        <p:nvSpPr>
          <p:cNvPr id="8" name="Text 6"/>
          <p:cNvSpPr/>
          <p:nvPr/>
        </p:nvSpPr>
        <p:spPr>
          <a:xfrm>
            <a:off x="45720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412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Keras / TensorFlow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24128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LSTM neuronalt netværk til træning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4436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scikit-learn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2412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StandardScaler + train/val/test split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45720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24128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tf2onnx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4128" y="4242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Eksporterer Keras-model til ONNX-format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00584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0" name="Text 18"/>
          <p:cNvSpPr/>
          <p:nvPr/>
        </p:nvSpPr>
        <p:spPr>
          <a:xfrm>
            <a:off x="4846320" y="1060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13248" y="1060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ONNX Runtime (JS)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13248" y="13350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Kører modellen client-side i browseren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975104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4" name="Text 22"/>
          <p:cNvSpPr/>
          <p:nvPr/>
        </p:nvSpPr>
        <p:spPr>
          <a:xfrm>
            <a:off x="4846320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🖼️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13248" y="2029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Svelte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13248" y="230428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Frontend framework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944368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28" name="Text 26"/>
          <p:cNvSpPr/>
          <p:nvPr/>
        </p:nvSpPr>
        <p:spPr>
          <a:xfrm>
            <a:off x="484632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13248" y="2999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13248" y="327355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Backend REST API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913632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K"/>
          </a:p>
        </p:txBody>
      </p:sp>
      <p:sp>
        <p:nvSpPr>
          <p:cNvPr id="32" name="Text 30"/>
          <p:cNvSpPr/>
          <p:nvPr/>
        </p:nvSpPr>
        <p:spPr>
          <a:xfrm>
            <a:off x="484632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🗄️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413248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SQLite (better-sqlite3)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13248" y="424281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Database: brugere, scores, leaderboard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4572000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E0F2F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6" name="Text 34"/>
          <p:cNvSpPr/>
          <p:nvPr/>
        </p:nvSpPr>
        <p:spPr>
          <a:xfrm>
            <a:off x="45720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7A70"/>
                </a:solidFill>
              </a:rPr>
              <a:t>📊  Træningsdata: Kaggle-datasæt — 56 pushup-videoer + 23 squat-videoer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9DAC5-AB7A-E08D-008E-3275EC9E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4069711-CBB2-3E7E-48F7-A75F663ACA66}"/>
              </a:ext>
            </a:extLst>
          </p:cNvPr>
          <p:cNvSpPr/>
          <p:nvPr/>
        </p:nvSpPr>
        <p:spPr>
          <a:xfrm>
            <a:off x="0" y="202311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400" dirty="0"/>
              <a:t>Koden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52494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DA7CF2-7CC9-9297-8B3A-FDE0253AA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97"/>
            <a:ext cx="9144000" cy="512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378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Kritik </a:t>
            </a:r>
            <a:r>
              <a:rPr lang="en-US" sz="3000" b="1" dirty="0" err="1">
                <a:solidFill>
                  <a:srgbClr val="FFFFFF"/>
                </a:solidFill>
              </a:rPr>
              <a:t>af</a:t>
            </a:r>
            <a:r>
              <a:rPr lang="en-US" sz="3000" b="1" dirty="0">
                <a:solidFill>
                  <a:srgbClr val="FFFFFF"/>
                </a:solidFill>
              </a:rPr>
              <a:t> Projekt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2A1810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B8E"/>
                </a:solidFill>
              </a:rPr>
              <a:t>⚠️  Cirkulær labeling-logik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42646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EE5"/>
                </a:solidFill>
              </a:rPr>
              <a:t>Labels genereret via albuevinkel-tærskler — den samme logik der kunne anvendes direkte. LSTM lærte at approksimere en regel der allerede eksisterede, og tilføjede kun glatning over 20 frames.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1A1E2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4892040" y="1097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B8E"/>
                </a:solidFill>
              </a:rPr>
              <a:t>📹  Begrænset generaliseringsevne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92040" y="142646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EE5"/>
                </a:solidFill>
              </a:rPr>
              <a:t>Træningsdata fra Kaggle: kontrollerede videoer fra siden med god belysning. Modellen generaliserer muligvis dårligt ved </a:t>
            </a:r>
            <a:r>
              <a:rPr lang="en-US" sz="950" dirty="0" err="1">
                <a:solidFill>
                  <a:srgbClr val="D0DEE5"/>
                </a:solidFill>
              </a:rPr>
              <a:t>andre</a:t>
            </a:r>
            <a:r>
              <a:rPr lang="en-US" sz="950" dirty="0">
                <a:solidFill>
                  <a:srgbClr val="D0DEE5"/>
                </a:solidFill>
              </a:rPr>
              <a:t> </a:t>
            </a:r>
            <a:r>
              <a:rPr lang="en-US" sz="950" dirty="0" err="1">
                <a:solidFill>
                  <a:srgbClr val="D0DEE5"/>
                </a:solidFill>
              </a:rPr>
              <a:t>kameravinkler</a:t>
            </a:r>
            <a:r>
              <a:rPr lang="en-US" sz="950" dirty="0">
                <a:solidFill>
                  <a:srgbClr val="D0DEE5"/>
                </a:solidFill>
              </a:rPr>
              <a:t>. </a:t>
            </a:r>
          </a:p>
          <a:p>
            <a:pPr marL="0" indent="0">
              <a:buNone/>
            </a:pPr>
            <a:endParaRPr lang="en-US" sz="950" dirty="0">
              <a:solidFill>
                <a:srgbClr val="D0DEE5"/>
              </a:solidFill>
            </a:endParaRPr>
          </a:p>
          <a:p>
            <a:pPr marL="0" indent="0">
              <a:buNone/>
            </a:pPr>
            <a:r>
              <a:rPr lang="en-US" sz="950" dirty="0" err="1">
                <a:solidFill>
                  <a:srgbClr val="D0DEE5"/>
                </a:solidFill>
              </a:rPr>
              <a:t>Måske</a:t>
            </a:r>
            <a:r>
              <a:rPr lang="en-US" sz="950" dirty="0">
                <a:solidFill>
                  <a:srgbClr val="D0DEE5"/>
                </a:solidFill>
              </a:rPr>
              <a:t> mere </a:t>
            </a:r>
            <a:r>
              <a:rPr lang="en-US" sz="950" dirty="0" err="1">
                <a:solidFill>
                  <a:srgbClr val="D0DEE5"/>
                </a:solidFill>
              </a:rPr>
              <a:t>træning</a:t>
            </a:r>
            <a:r>
              <a:rPr lang="en-US" sz="950" dirty="0">
                <a:solidFill>
                  <a:srgbClr val="D0DEE5"/>
                </a:solidFill>
              </a:rPr>
              <a:t> </a:t>
            </a:r>
            <a:r>
              <a:rPr lang="en-US" sz="950" dirty="0" err="1">
                <a:solidFill>
                  <a:srgbClr val="D0DEE5"/>
                </a:solidFill>
              </a:rPr>
              <a:t>på</a:t>
            </a:r>
            <a:r>
              <a:rPr lang="en-US" sz="950" dirty="0">
                <a:solidFill>
                  <a:srgbClr val="D0DEE5"/>
                </a:solidFill>
              </a:rPr>
              <a:t> </a:t>
            </a:r>
            <a:r>
              <a:rPr lang="en-US" sz="950" dirty="0" err="1">
                <a:solidFill>
                  <a:srgbClr val="D0DEE5"/>
                </a:solidFill>
              </a:rPr>
              <a:t>hjemmevideoer</a:t>
            </a:r>
            <a:r>
              <a:rPr lang="en-US" sz="950" dirty="0">
                <a:solidFill>
                  <a:srgbClr val="D0DEE5"/>
                </a:solidFill>
              </a:rPr>
              <a:t> </a:t>
            </a:r>
            <a:r>
              <a:rPr lang="en-US" sz="950" dirty="0" err="1">
                <a:solidFill>
                  <a:srgbClr val="D0DEE5"/>
                </a:solidFill>
              </a:rPr>
              <a:t>fra</a:t>
            </a:r>
            <a:r>
              <a:rPr lang="en-US" sz="950" dirty="0">
                <a:solidFill>
                  <a:srgbClr val="D0DEE5"/>
                </a:solidFill>
              </a:rPr>
              <a:t> et webcam der </a:t>
            </a:r>
            <a:r>
              <a:rPr lang="en-US" sz="950" dirty="0" err="1">
                <a:solidFill>
                  <a:srgbClr val="D0DEE5"/>
                </a:solidFill>
              </a:rPr>
              <a:t>mimerer</a:t>
            </a:r>
            <a:r>
              <a:rPr lang="en-US" sz="950" dirty="0">
                <a:solidFill>
                  <a:srgbClr val="D0DEE5"/>
                </a:solidFill>
              </a:rPr>
              <a:t> det </a:t>
            </a:r>
            <a:r>
              <a:rPr lang="en-US" sz="950" dirty="0" err="1">
                <a:solidFill>
                  <a:srgbClr val="D0DEE5"/>
                </a:solidFill>
              </a:rPr>
              <a:t>ægte</a:t>
            </a:r>
            <a:r>
              <a:rPr lang="en-US" sz="950" dirty="0">
                <a:solidFill>
                  <a:srgbClr val="D0DEE5"/>
                </a:solidFill>
              </a:rPr>
              <a:t> setup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2A181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8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B8E"/>
                </a:solidFill>
              </a:rPr>
              <a:t>📉  Lille datasæt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16382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EE5"/>
                </a:solidFill>
              </a:rPr>
              <a:t>Kun 475 rå sekvenser før augmentering. Syntetisk data er ikke erstatning for ægte variation.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4023360" cy="1572768"/>
          </a:xfrm>
          <a:prstGeom prst="roundRect">
            <a:avLst>
              <a:gd name="adj" fmla="val 5814"/>
            </a:avLst>
          </a:prstGeom>
          <a:solidFill>
            <a:srgbClr val="0F2B20"/>
          </a:solidFill>
          <a:ln/>
        </p:spPr>
        <p:txBody>
          <a:bodyPr/>
          <a:lstStyle/>
          <a:p>
            <a:endParaRPr lang="en-DK" dirty="0"/>
          </a:p>
        </p:txBody>
      </p:sp>
      <p:sp>
        <p:nvSpPr>
          <p:cNvPr id="13" name="Text 11"/>
          <p:cNvSpPr/>
          <p:nvPr/>
        </p:nvSpPr>
        <p:spPr>
          <a:xfrm>
            <a:off x="4892040" y="2834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9B8E"/>
                </a:solidFill>
              </a:rPr>
              <a:t>💡  Hvad burde have været gjort anderledes?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3163824"/>
            <a:ext cx="3749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EE5"/>
                </a:solidFill>
              </a:rPr>
              <a:t>Manuelt mærkede data til formkvalitet (god vs. dårlig form) — noget en vinkelgrænse ikke kan detektere, og hvor et LSTM ville give reel merværdi.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4645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LSTM neural network.">
            <a:extLst>
              <a:ext uri="{FF2B5EF4-FFF2-40B4-BE49-F238E27FC236}">
                <a16:creationId xmlns:a16="http://schemas.microsoft.com/office/drawing/2014/main" id="{7989B17D-EFEC-001F-3C92-D351EC82E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668" y="852390"/>
            <a:ext cx="8631183" cy="324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27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328</Words>
  <Application>Microsoft Office PowerPoint</Application>
  <PresentationFormat>On-screen Show (16:9)</PresentationFormat>
  <Paragraphs>65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PulseML — AI-Powered Workout Tracker</dc:title>
  <dc:subject>PptxGenJS Presentation</dc:subject>
  <dc:creator>Gustav Torup Jacobsen</dc:creator>
  <cp:lastModifiedBy>Gustav Torup Jacobsen, EngineerIT</cp:lastModifiedBy>
  <cp:revision>5</cp:revision>
  <dcterms:created xsi:type="dcterms:W3CDTF">2026-06-12T11:22:20Z</dcterms:created>
  <dcterms:modified xsi:type="dcterms:W3CDTF">2026-06-14T09:25:19Z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2026-06-12T11:49:11Z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9aafd452-b819-40a3-a400-f94ff33b0125</vt:lpwstr>
  </property>
  <property fmtid="{D5CDD505-2E9C-101B-9397-08002B2CF9AE}" pid="7" name="MSIP_Label_defa4170-0d19-0005-0004-bc88714345d2_ActionId">
    <vt:lpwstr>347bada5-d389-494f-90a9-2e6c01521670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